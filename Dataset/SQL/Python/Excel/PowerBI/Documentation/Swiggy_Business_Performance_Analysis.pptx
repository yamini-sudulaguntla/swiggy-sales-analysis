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B2118"/>
                </a:solidFill>
                <a:latin typeface="Calibri"/>
              </a:rPr>
              <a:t>Monthly Revenue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E36414"/>
            </a:solidFill>
            <a:ln w="31750" cap="flat">
              <a:solidFill>
                <a:srgbClr val="E3641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36414"/>
              </a:solidFill>
              <a:ln w="9525" cap="flat">
                <a:solidFill>
                  <a:srgbClr val="E3641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6.83</c:v>
                </c:pt>
                <c:pt idx="1">
                  <c:v>6.27</c:v>
                </c:pt>
                <c:pt idx="2">
                  <c:v>6.57</c:v>
                </c:pt>
                <c:pt idx="3">
                  <c:v>6.59</c:v>
                </c:pt>
                <c:pt idx="4">
                  <c:v>6.51</c:v>
                </c:pt>
                <c:pt idx="5">
                  <c:v>6.79</c:v>
                </c:pt>
                <c:pt idx="6">
                  <c:v>6.65</c:v>
                </c:pt>
                <c:pt idx="7">
                  <c:v>6.79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0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B2118"/>
                </a:solidFill>
                <a:latin typeface="Calibri"/>
              </a:rPr>
              <a:t>Daily Revenue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C801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Sun</c:v>
                  </c:pt>
                  <c:pt idx="1">
                    <c:v>Mon</c:v>
                  </c:pt>
                  <c:pt idx="2">
                    <c:v>Tue</c:v>
                  </c:pt>
                  <c:pt idx="3">
                    <c:v>Wed</c:v>
                  </c:pt>
                  <c:pt idx="4">
                    <c:v>Thu</c:v>
                  </c:pt>
                  <c:pt idx="5">
                    <c:v>Fri</c:v>
                  </c:pt>
                  <c:pt idx="6">
                    <c:v>Sat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7.6</c:v>
                </c:pt>
                <c:pt idx="1">
                  <c:v>7.4</c:v>
                </c:pt>
                <c:pt idx="2">
                  <c:v>7.4</c:v>
                </c:pt>
                <c:pt idx="3">
                  <c:v>7.5</c:v>
                </c:pt>
                <c:pt idx="4">
                  <c:v>7.7</c:v>
                </c:pt>
                <c:pt idx="5">
                  <c:v>7.6</c:v>
                </c:pt>
                <c:pt idx="6">
                  <c:v>7.8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B2118"/>
                </a:solidFill>
                <a:latin typeface="Calibri"/>
              </a:rPr>
              <a:t>Revenue by Food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Food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C8019"/>
              </a:solidFill>
              <a:effectLst/>
            </c:spPr>
          </c:dPt>
          <c:dPt>
            <c:idx val="1"/>
            <c:bubble3D val="0"/>
            <c:spPr>
              <a:solidFill>
                <a:srgbClr val="2B2118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Veg</c:v>
                </c:pt>
                <c:pt idx="1">
                  <c:v>Non-Veg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67.4</c:v>
                </c:pt>
                <c:pt idx="1">
                  <c:v>32.6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B211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B2118"/>
                </a:solidFill>
                <a:latin typeface="Calibri"/>
              </a:rPr>
              <a:t>Top Restaurants by Sales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E3641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Burger King</c:v>
                  </c:pt>
                  <c:pt idx="1">
                    <c:v>Pizza Hut</c:v>
                  </c:pt>
                  <c:pt idx="2">
                    <c:v>McDonald's</c:v>
                  </c:pt>
                  <c:pt idx="3">
                    <c:v>KFC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1.9</c:v>
                </c:pt>
                <c:pt idx="1">
                  <c:v>2.1</c:v>
                </c:pt>
                <c:pt idx="2">
                  <c:v>3.3</c:v>
                </c:pt>
                <c:pt idx="3">
                  <c:v>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B2118"/>
                </a:solidFill>
                <a:latin typeface="Calibri"/>
              </a:rPr>
              <a:t>Top States by Sales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($M)</c:v>
                </c:pt>
              </c:strCache>
            </c:strRef>
          </c:tx>
          <c:spPr>
            <a:solidFill>
              <a:srgbClr val="FC801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B211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Karnataka</c:v>
                  </c:pt>
                  <c:pt idx="1">
                    <c:v>Uttar Pradesh</c:v>
                  </c:pt>
                  <c:pt idx="2">
                    <c:v>Telangana</c:v>
                  </c:pt>
                  <c:pt idx="3">
                    <c:v>Maharashtra</c:v>
                  </c:pt>
                  <c:pt idx="4">
                    <c:v>Delhi</c:v>
                  </c:pt>
                  <c:pt idx="5">
                    <c:v>Gujarat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5.5</c:v>
                </c:pt>
                <c:pt idx="1">
                  <c:v>3.1</c:v>
                </c:pt>
                <c:pt idx="2">
                  <c:v>3</c:v>
                </c:pt>
                <c:pt idx="3">
                  <c:v>3</c:v>
                </c:pt>
                <c:pt idx="4">
                  <c:v>2.8</c:v>
                </c:pt>
                <c:pt idx="5">
                  <c:v>2.8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2B211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1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B211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B2118"/>
                </a:solidFill>
                <a:latin typeface="Calibri"/>
              </a:rPr>
              <a:t>Sales by Food Type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Food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C8019"/>
              </a:solidFill>
              <a:effectLst/>
            </c:spPr>
          </c:dPt>
          <c:dPt>
            <c:idx val="1"/>
            <c:bubble3D val="0"/>
            <c:spPr>
              <a:solidFill>
                <a:srgbClr val="2B2118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Veg</c:v>
                </c:pt>
                <c:pt idx="1">
                  <c:v>Non-Veg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67.4</c:v>
                </c:pt>
                <c:pt idx="1">
                  <c:v>32.6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2B211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3840480" cy="384048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291840" cy="329184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50292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Business Performance Analysis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9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Data into Actionable Insights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815688" y="2788920"/>
            <a:ext cx="2560320" cy="0"/>
          </a:xfrm>
          <a:prstGeom prst="line">
            <a:avLst/>
          </a:prstGeom>
          <a:noFill/>
          <a:ln w="12700">
            <a:solidFill>
              <a:srgbClr val="5A4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3375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 •   Python   •   Excel   •   Power BI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FOCUS AREAS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7988" y="43891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3A2E24"/>
          </a:solidFill>
          <a:ln w="12700">
            <a:solidFill>
              <a:srgbClr val="5A4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7716" y="43891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5188" y="4389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89708" y="43891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3A2E24"/>
          </a:solidFill>
          <a:ln w="12700">
            <a:solidFill>
              <a:srgbClr val="5A4A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9436" y="43891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46908" y="4389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Performance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1428" y="43891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3A2E24"/>
          </a:solidFill>
          <a:ln w="12700">
            <a:solidFill>
              <a:srgbClr val="5A4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31156" y="43891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78628" y="4389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Insights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53148" y="43891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3A2E24"/>
          </a:solidFill>
          <a:ln w="12700">
            <a:solidFill>
              <a:srgbClr val="5A4A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2876" y="43891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810348" y="4389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Ordering Trends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84868" y="438912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3A2E24"/>
          </a:solidFill>
          <a:ln w="12700">
            <a:solidFill>
              <a:srgbClr val="5A4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94596" y="4389120"/>
            <a:ext cx="411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142068" y="4389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Sudulaguntla Yamini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pipeline, from raw order data to a decision-ready dashboard.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data analytics pipeline that transforms raw Swiggy order data into meaningful business insights — cleaning and validating the data, modeling it into a star schema, and delivering interactive dashboards that help stakeholders understand sales, restaurant, and location performance.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linked source tables: fact_orders, dim_restaurant, dim_location, dim_dish, dim_date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197K+ orders merged into a single analytical dataset</a:t>
            </a:r>
            <a:endParaRPr lang="en-US" sz="12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25+ Indian states and union territories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7830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 Addressed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days and months drive the most revenue?</a:t>
            </a:r>
            <a:endParaRPr lang="en-US" sz="13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restaurants and states generate the most sales?</a:t>
            </a:r>
            <a:endParaRPr lang="en-US" sz="13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demand differ between veg and non-veg orders?</a:t>
            </a:r>
            <a:endParaRPr lang="en-US" sz="13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consistent is customer satisfaction (ratings) over time?</a:t>
            </a:r>
            <a:endParaRPr lang="en-US" sz="13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value, and how does it vary?</a:t>
            </a:r>
            <a:endParaRPr lang="en-US" sz="13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quarterly performance trend across the year?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validation layer — drop in your query screenshots below.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57988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C9BDB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57988" y="2234794"/>
            <a:ext cx="21488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BDB0"/>
                </a:solidFill>
              </a:rPr>
              <a:t>🖼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0868" y="3441802"/>
            <a:ext cx="1783080" cy="10863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57988" y="48188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89708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C9BDB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689708" y="2234794"/>
            <a:ext cx="21488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BDB0"/>
                </a:solidFill>
              </a:rPr>
              <a:t>🖼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72588" y="3441802"/>
            <a:ext cx="1783080" cy="10863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89708" y="48188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1428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C9BDB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021428" y="2234794"/>
            <a:ext cx="21488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BDB0"/>
                </a:solidFill>
              </a:rPr>
              <a:t>🖼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204308" y="3441802"/>
            <a:ext cx="1783080" cy="10863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1428" y="48188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53148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C9BDB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7353148" y="2234794"/>
            <a:ext cx="21488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BDB0"/>
                </a:solidFill>
              </a:rPr>
              <a:t>🖼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536028" y="3441802"/>
            <a:ext cx="1783080" cy="10863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53148" y="48188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84868" y="1691640"/>
            <a:ext cx="2148840" cy="301752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5875">
            <a:solidFill>
              <a:srgbClr val="C9BDB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9684868" y="2234794"/>
            <a:ext cx="214884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BDB0"/>
                </a:solidFill>
              </a:rPr>
              <a:t>🖼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867748" y="3441802"/>
            <a:ext cx="1783080" cy="10863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84868" y="48188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Queries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39496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validation checks: orders without matching customers/restaurants, negative order amounts, delivery time earlier than pickup time, and referential integrity across the star schema (fact_orders ↔ dim_restaurant, dim_location, dim_dish, dim_date).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pandas — merging, feature engineering, and trend discovery.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6692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55080" y="1600200"/>
          <a:ext cx="5303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48640" y="4069080"/>
          <a:ext cx="356616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251960" y="4069080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434840" y="42245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Steps (pandas)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434840" y="457200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fact_orders with dim_restaurant, dim_location, dim_dish, dim_date</a:t>
            </a:r>
            <a:endParaRPr lang="en-US" sz="10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Year, Month, Quarter, Day features from order_date</a:t>
            </a:r>
            <a:endParaRPr lang="en-US" sz="10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dishes into Veg / Non-Veg via keyword matching</a:t>
            </a:r>
            <a:endParaRPr lang="en-US" sz="10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KPIs: total sales, AOV, avg rating, order count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8001000" y="4069080"/>
            <a:ext cx="36576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5875">
            <a:solidFill>
              <a:srgbClr val="C9BDB0"/>
            </a:solidFill>
            <a:prstDash val="dash"/>
          </a:ln>
        </p:spPr>
      </p:sp>
      <p:sp>
        <p:nvSpPr>
          <p:cNvPr id="11" name="Text 6"/>
          <p:cNvSpPr/>
          <p:nvPr/>
        </p:nvSpPr>
        <p:spPr>
          <a:xfrm>
            <a:off x="8001000" y="4505249"/>
            <a:ext cx="36576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BDB0"/>
                </a:solidFill>
              </a:rPr>
              <a:t>🖼</a:t>
            </a:r>
            <a:endParaRPr lang="en-US" sz="2600" dirty="0"/>
          </a:p>
        </p:txBody>
      </p:sp>
      <p:sp>
        <p:nvSpPr>
          <p:cNvPr id="12" name="Text 7"/>
          <p:cNvSpPr/>
          <p:nvPr/>
        </p:nvSpPr>
        <p:spPr>
          <a:xfrm>
            <a:off x="8183880" y="5474513"/>
            <a:ext cx="3291840" cy="872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notebook / heatmap screenshot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Pivot-table driven dashboard with quarter and day-level detail.</a:t>
            </a:r>
            <a:endParaRPr lang="en-US" sz="1350" dirty="0"/>
          </a:p>
        </p:txBody>
      </p:sp>
      <p:pic>
        <p:nvPicPr>
          <p:cNvPr id="4" name="Image 0" descr="/home/claude/swiggy_full_deck/excel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949440" cy="3774936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7818120" y="1554480"/>
            <a:ext cx="3794760" cy="3774936"/>
          </a:xfrm>
          <a:prstGeom prst="roundRect">
            <a:avLst>
              <a:gd name="adj" fmla="val 2422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0" y="17373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103120"/>
            <a:ext cx="3337560" cy="3134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linking orders to restaurant, location, and date dimensions</a:t>
            </a:r>
            <a:endParaRPr lang="en-US" sz="11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pivot charts for daily, weekly, and monthly sales</a:t>
            </a:r>
            <a:endParaRPr lang="en-US" sz="11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KPI table: total sales &amp; average rating per quarter</a:t>
            </a:r>
            <a:endParaRPr lang="en-US" sz="11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month, category, and restaurant-level filtering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5512296"/>
            <a:ext cx="11094415" cy="888504"/>
          </a:xfrm>
          <a:prstGeom prst="roundRect">
            <a:avLst>
              <a:gd name="adj" fmla="val 10291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649456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Excel KPIs: Grand Total ₹53M sales, Total Orders 24,588 (Q1 slice), Average Rating 4.34, held steady at 4.3 across every quarter.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interactive report — filterable by city, food type, quarter, and restaurant.</a:t>
            </a:r>
            <a:endParaRPr lang="en-US" sz="1350" dirty="0"/>
          </a:p>
        </p:txBody>
      </p:sp>
      <p:pic>
        <p:nvPicPr>
          <p:cNvPr id="4" name="Image 0" descr="/home/claude/swiggy_full_deck/powerbi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1088" y="1417320"/>
            <a:ext cx="7589520" cy="400272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18008" y="5602929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18008" y="5694369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91160" y="5996121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52648" y="5602929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52648" y="5694369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197K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425800" y="5996121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87288" y="5602929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87288" y="5694369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$268.5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260440" y="5996121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021928" y="5602929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21928" y="5694369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★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095080" y="5996121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Category &amp; Location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views from the report for restaurant, state, and food-type performance.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600200"/>
          <a:ext cx="53949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548640" y="4160520"/>
          <a:ext cx="51206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6263640" y="416052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537960" y="4343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Cuts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6537960" y="4754880"/>
            <a:ext cx="4846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 and McDonald's alone out-sell the other top brands combined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nearly doubles the next closest state</a:t>
            </a:r>
            <a:endParaRPr lang="en-US" sz="12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 orders outnumber non-veg roughly 2 to 1 across the platform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719072"/>
            <a:ext cx="9905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restaurants lead the pack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554480" y="2029968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KFC ($4.2M) and McDonald's ($3.3M) are the top 2 restaurant brands by sales — together outselling the next four brands combined.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42032"/>
            <a:ext cx="731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615184"/>
            <a:ext cx="9905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outperform weekdays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554480" y="292608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sales peak at $7.8M, roughly 5% above the weekly low on Monday/Tuesday ($7.4M).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38144"/>
            <a:ext cx="731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511296"/>
            <a:ext cx="9905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is the strongest state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54480" y="3822192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$5.5M, Karnataka nearly doubles the next closest state, Uttar Pradesh ($3.1M).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34256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334256"/>
            <a:ext cx="731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407408"/>
            <a:ext cx="9905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 dominates demand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54480" y="4718304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of revenue comes from veg dishes, vs. 33% for non-veg — a 2:1 split.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230368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BF5EF"/>
          </a:solidFill>
          <a:ln w="12700">
            <a:solidFill>
              <a:srgbClr val="EDE0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230368"/>
            <a:ext cx="731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⭐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5303520"/>
            <a:ext cx="9905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held steady all year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54480" y="5614416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stayed at 4.3 in every quarter, even as sales volumes shifted.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 behind this project.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523962" y="1920240"/>
            <a:ext cx="822960" cy="82296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5" name="Text 3"/>
          <p:cNvSpPr/>
          <p:nvPr/>
        </p:nvSpPr>
        <p:spPr>
          <a:xfrm>
            <a:off x="1523962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9642" y="2816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566" y="1920240"/>
            <a:ext cx="822960" cy="82296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8" name="Text 6"/>
          <p:cNvSpPr/>
          <p:nvPr/>
        </p:nvSpPr>
        <p:spPr>
          <a:xfrm>
            <a:off x="4297566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023246" y="2816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71170" y="1920240"/>
            <a:ext cx="822960" cy="82296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1" name="Text 9"/>
          <p:cNvSpPr/>
          <p:nvPr/>
        </p:nvSpPr>
        <p:spPr>
          <a:xfrm>
            <a:off x="7071170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796850" y="2816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844773" y="1920240"/>
            <a:ext cx="822960" cy="82296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4" name="Text 12"/>
          <p:cNvSpPr/>
          <p:nvPr/>
        </p:nvSpPr>
        <p:spPr>
          <a:xfrm>
            <a:off x="9844773" y="19202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70453" y="28163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23962" y="3794760"/>
            <a:ext cx="822960" cy="82296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7" name="Text 15"/>
          <p:cNvSpPr/>
          <p:nvPr/>
        </p:nvSpPr>
        <p:spPr>
          <a:xfrm>
            <a:off x="1523962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49642" y="4690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566" y="3794760"/>
            <a:ext cx="822960" cy="82296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566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023246" y="4690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71170" y="3794760"/>
            <a:ext cx="822960" cy="82296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23" name="Text 21"/>
          <p:cNvSpPr/>
          <p:nvPr/>
        </p:nvSpPr>
        <p:spPr>
          <a:xfrm>
            <a:off x="7071170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🧩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796850" y="4690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44773" y="3794760"/>
            <a:ext cx="822960" cy="82296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26" name="Text 24"/>
          <p:cNvSpPr/>
          <p:nvPr/>
        </p:nvSpPr>
        <p:spPr>
          <a:xfrm>
            <a:off x="9844773" y="3794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570453" y="469087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754880"/>
            <a:ext cx="3108960" cy="3108960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an end-to-end analytics pipeline — from raw multi-table data to a polished dashboard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importance of validating one consistent source of truth across Python, Excel, and Power BI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small data-quality issues (duplicates, nulls, referential integrity) cascade into dashboard accuracy if not caught early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263640" y="13716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63640" y="178308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stakeholders a self-serve view of sales, restaurant, and location performance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where to focus promotions — weekend timing, top-performing states like Karnataka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D9C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service quality held steady (4.3★) even as demand fluctuated quarter to quarter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892040"/>
            <a:ext cx="10911535" cy="0"/>
          </a:xfrm>
          <a:prstGeom prst="line">
            <a:avLst/>
          </a:prstGeom>
          <a:noFill/>
          <a:ln w="12700">
            <a:solidFill>
              <a:srgbClr val="5A4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74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9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end-to-end: SQL → Python → Excel → Power BI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reading — let's connect!  [Your Name]  |  [LinkedIn handle]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2026-08-13T10:12:41Z</dcterms:created>
  <dcterms:modified xsi:type="dcterms:W3CDTF">2026-08-13T10:12:41Z</dcterms:modified>
</cp:coreProperties>
</file>